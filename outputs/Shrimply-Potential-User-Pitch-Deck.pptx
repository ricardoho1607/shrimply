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70149b9dbb42b0" /><Relationship Type="http://schemas.openxmlformats.org/officeDocument/2006/relationships/extended-properties" Target="/docProps/app.xml" Id="Re2baf8b69f10448e" /><Relationship Type="http://schemas.openxmlformats.org/officeDocument/2006/relationships/officeDocument" Target="/ppt/presentation.xml" Id="R20b5303184e040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1ae5e3a97440f"/>
  </p:sldMasterIdLst>
  <p:notesMasterIdLst>
    <p:notesMasterId xmlns:r="http://schemas.openxmlformats.org/officeDocument/2006/relationships" r:id="R734dd349d4a649e2"/>
  </p:notesMasterIdLst>
  <p:sldIdLst>
    <p:sldId xmlns:r="http://schemas.openxmlformats.org/officeDocument/2006/relationships" id="256" r:id="Re49ef49766564fce"/>
    <p:sldId xmlns:r="http://schemas.openxmlformats.org/officeDocument/2006/relationships" id="257" r:id="R4a5ecfa42e5443bd"/>
    <p:sldId xmlns:r="http://schemas.openxmlformats.org/officeDocument/2006/relationships" id="258" r:id="R23523d7abe654c83"/>
    <p:sldId xmlns:r="http://schemas.openxmlformats.org/officeDocument/2006/relationships" id="259" r:id="R943aae97b74a4451"/>
    <p:sldId xmlns:r="http://schemas.openxmlformats.org/officeDocument/2006/relationships" id="260" r:id="R9db3d1ec9e6a488b"/>
    <p:sldId xmlns:r="http://schemas.openxmlformats.org/officeDocument/2006/relationships" id="261" r:id="R0bd2e9f4f51f4064"/>
    <p:sldId xmlns:r="http://schemas.openxmlformats.org/officeDocument/2006/relationships" id="262" r:id="Ree335c340f764186"/>
    <p:sldId xmlns:r="http://schemas.openxmlformats.org/officeDocument/2006/relationships" id="263" r:id="R5dbd03a0c01d4678"/>
    <p:sldId xmlns:r="http://schemas.openxmlformats.org/officeDocument/2006/relationships" id="264" r:id="Rfada4f67324d4e54"/>
    <p:sldId xmlns:r="http://schemas.openxmlformats.org/officeDocument/2006/relationships" id="265" r:id="Rb156c87d646a4ca6"/>
    <p:sldId xmlns:r="http://schemas.openxmlformats.org/officeDocument/2006/relationships" id="266" r:id="Rfcaaf5b8469e471d"/>
    <p:sldId xmlns:r="http://schemas.openxmlformats.org/officeDocument/2006/relationships" id="267" r:id="R1d75c193b7a649c6"/>
    <p:sldId xmlns:r="http://schemas.openxmlformats.org/officeDocument/2006/relationships" id="268" r:id="Rb088851708bd4763"/>
    <p:sldId xmlns:r="http://schemas.openxmlformats.org/officeDocument/2006/relationships" id="269" r:id="R23651c7bbccb4d28"/>
    <p:sldId xmlns:r="http://schemas.openxmlformats.org/officeDocument/2006/relationships" id="270" r:id="R0a8500b839e741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e202ac1164c5d" /><Relationship Type="http://schemas.openxmlformats.org/officeDocument/2006/relationships/slideMaster" Target="/ppt/slideMasters/slideMaster1.xml" Id="R9af1ae5e3a97440f" /><Relationship Type="http://schemas.openxmlformats.org/officeDocument/2006/relationships/notesMaster" Target="/ppt/notesMasters/notesMaster1.xml" Id="R734dd349d4a649e2" /><Relationship Type="http://schemas.openxmlformats.org/officeDocument/2006/relationships/presProps" Target="/ppt/presProps.xml" Id="R9c40ad82f4bf47a2" /><Relationship Type="http://schemas.openxmlformats.org/officeDocument/2006/relationships/tableStyles" Target="/ppt/tableStyles.xml" Id="R5ddb486a229043f9" /><Relationship Type="http://schemas.openxmlformats.org/officeDocument/2006/relationships/slide" Target="/ppt/slides/slide1.xml" Id="Re49ef49766564fce" /><Relationship Type="http://schemas.openxmlformats.org/officeDocument/2006/relationships/slide" Target="/ppt/slides/slide2.xml" Id="R4a5ecfa42e5443bd" /><Relationship Type="http://schemas.openxmlformats.org/officeDocument/2006/relationships/slide" Target="/ppt/slides/slide3.xml" Id="R23523d7abe654c83" /><Relationship Type="http://schemas.openxmlformats.org/officeDocument/2006/relationships/slide" Target="/ppt/slides/slide4.xml" Id="R943aae97b74a4451" /><Relationship Type="http://schemas.openxmlformats.org/officeDocument/2006/relationships/slide" Target="/ppt/slides/slide5.xml" Id="R9db3d1ec9e6a488b" /><Relationship Type="http://schemas.openxmlformats.org/officeDocument/2006/relationships/slide" Target="/ppt/slides/slide6.xml" Id="R0bd2e9f4f51f4064" /><Relationship Type="http://schemas.openxmlformats.org/officeDocument/2006/relationships/slide" Target="/ppt/slides/slide7.xml" Id="Ree335c340f764186" /><Relationship Type="http://schemas.openxmlformats.org/officeDocument/2006/relationships/slide" Target="/ppt/slides/slide8.xml" Id="R5dbd03a0c01d4678" /><Relationship Type="http://schemas.openxmlformats.org/officeDocument/2006/relationships/slide" Target="/ppt/slides/slide9.xml" Id="Rfada4f67324d4e54" /><Relationship Type="http://schemas.openxmlformats.org/officeDocument/2006/relationships/slide" Target="/ppt/slides/slide10.xml" Id="Rb156c87d646a4ca6" /><Relationship Type="http://schemas.openxmlformats.org/officeDocument/2006/relationships/slide" Target="/ppt/slides/slide11.xml" Id="Rfcaaf5b8469e471d" /><Relationship Type="http://schemas.openxmlformats.org/officeDocument/2006/relationships/slide" Target="/ppt/slides/slide12.xml" Id="R1d75c193b7a649c6" /><Relationship Type="http://schemas.openxmlformats.org/officeDocument/2006/relationships/slide" Target="/ppt/slides/slide13.xml" Id="Rb088851708bd4763" /><Relationship Type="http://schemas.openxmlformats.org/officeDocument/2006/relationships/slide" Target="/ppt/slides/slide14.xml" Id="R23651c7bbccb4d28" /><Relationship Type="http://schemas.openxmlformats.org/officeDocument/2006/relationships/slide" Target="/ppt/slides/slide15.xml" Id="R0a8500b839e7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62d67355c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050428f004bbc" /><Relationship Type="http://schemas.openxmlformats.org/officeDocument/2006/relationships/notesMaster" Target="/ppt/notesMasters/notesMaster1.xml" Id="R1aa897bd691540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9282a7ceb43d4" /><Relationship Type="http://schemas.openxmlformats.org/officeDocument/2006/relationships/notesMaster" Target="/ppt/notesMasters/notesMaster1.xml" Id="Re86d3908de3149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1178707d384863" /><Relationship Type="http://schemas.openxmlformats.org/officeDocument/2006/relationships/notesMaster" Target="/ppt/notesMasters/notesMaster1.xml" Id="Rd9bdb8809c554a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ce2f7e55ca425a" /><Relationship Type="http://schemas.openxmlformats.org/officeDocument/2006/relationships/notesMaster" Target="/ppt/notesMasters/notesMaster1.xml" Id="Rabe195f43f4b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bc6d7344d429f" /><Relationship Type="http://schemas.openxmlformats.org/officeDocument/2006/relationships/notesMaster" Target="/ppt/notesMasters/notesMaster1.xml" Id="R2dd10ad95e0844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a9b228cb04514" /><Relationship Type="http://schemas.openxmlformats.org/officeDocument/2006/relationships/notesMaster" Target="/ppt/notesMasters/notesMaster1.xml" Id="R06874e994b16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a04a3673d492a" /><Relationship Type="http://schemas.openxmlformats.org/officeDocument/2006/relationships/notesMaster" Target="/ppt/notesMasters/notesMaster1.xml" Id="R3431e0ebdba7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853cae6acd4261" /><Relationship Type="http://schemas.openxmlformats.org/officeDocument/2006/relationships/notesMaster" Target="/ppt/notesMasters/notesMaster1.xml" Id="Rced74b0e4438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999b7096324acf" /><Relationship Type="http://schemas.openxmlformats.org/officeDocument/2006/relationships/notesMaster" Target="/ppt/notesMasters/notesMaster1.xml" Id="Rc0e6e85e76724d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869e4fb92842d3" /><Relationship Type="http://schemas.openxmlformats.org/officeDocument/2006/relationships/notesMaster" Target="/ppt/notesMasters/notesMaster1.xml" Id="Re6c56bb8e4b9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4e85041cc545bd" /><Relationship Type="http://schemas.openxmlformats.org/officeDocument/2006/relationships/notesMaster" Target="/ppt/notesMasters/notesMaster1.xml" Id="Raa4b7bcbe9d84f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afe8a2dd04ed0" /><Relationship Type="http://schemas.openxmlformats.org/officeDocument/2006/relationships/notesMaster" Target="/ppt/notesMasters/notesMaster1.xml" Id="Rfd1bfba45c8d4e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50d997fd4c4080" /><Relationship Type="http://schemas.openxmlformats.org/officeDocument/2006/relationships/notesMaster" Target="/ppt/notesMasters/notesMaster1.xml" Id="R8eb69a7b48a249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7060f8f6414bb6" /><Relationship Type="http://schemas.openxmlformats.org/officeDocument/2006/relationships/notesMaster" Target="/ppt/notesMasters/notesMaster1.xml" Id="Rc51a10644954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d14bde361941e6" /><Relationship Type="http://schemas.openxmlformats.org/officeDocument/2006/relationships/notesMaster" Target="/ppt/notesMasters/notesMaster1.xml" Id="Rdd6e12e9c5a8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e1758b8524f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16e8a0fd8427f" /><Relationship Type="http://schemas.openxmlformats.org/officeDocument/2006/relationships/slideLayout" Target="/ppt/slideLayouts/slideLayout1.xml" Id="R9c72cd83ad4945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2cd83ad4945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ba8145221460b" /><Relationship Type="http://schemas.openxmlformats.org/officeDocument/2006/relationships/image" Target="/ppt/media/image.png" Id="Ra37399cb25084f80" /><Relationship Type="http://schemas.openxmlformats.org/officeDocument/2006/relationships/notesSlide" Target="/ppt/notesSlides/notesSlide1.xml" Id="R0c7ca3932a16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4866e89384e92" /><Relationship Type="http://schemas.openxmlformats.org/officeDocument/2006/relationships/notesSlide" Target="/ppt/notesSlides/notesSlide2.xml" Id="R67a30476f9fe44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611a513944842" /><Relationship Type="http://schemas.openxmlformats.org/officeDocument/2006/relationships/notesSlide" Target="/ppt/notesSlides/notesSlide3.xml" Id="Ra8327bfa68c5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41bef8e74cdc" /><Relationship Type="http://schemas.openxmlformats.org/officeDocument/2006/relationships/notesSlide" Target="/ppt/notesSlides/notesSlide4.xml" Id="Rba41e616f59e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182307114457" /><Relationship Type="http://schemas.openxmlformats.org/officeDocument/2006/relationships/notesSlide" Target="/ppt/notesSlides/notesSlide5.xml" Id="R31a703614a7040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1ac46d5a64f99" /><Relationship Type="http://schemas.openxmlformats.org/officeDocument/2006/relationships/notesSlide" Target="/ppt/notesSlides/notesSlide6.xml" Id="R8a8549e3f51d4d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93b67a9914b02" /><Relationship Type="http://schemas.openxmlformats.org/officeDocument/2006/relationships/notesSlide" Target="/ppt/notesSlides/notesSlide7.xml" Id="Rb382a073ed324d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22a3c20604194" /><Relationship Type="http://schemas.openxmlformats.org/officeDocument/2006/relationships/notesSlide" Target="/ppt/notesSlides/notesSlide8.xml" Id="Rfc99ef57d53c48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796fa096b46ab" /><Relationship Type="http://schemas.openxmlformats.org/officeDocument/2006/relationships/notesSlide" Target="/ppt/notesSlides/notesSlide9.xml" Id="Re7e881424b0e49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f33dbfbca4088" /><Relationship Type="http://schemas.openxmlformats.org/officeDocument/2006/relationships/notesSlide" Target="/ppt/notesSlides/notesSlide10.xml" Id="R01fc8442f5284a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0a8ff5566421c" /><Relationship Type="http://schemas.openxmlformats.org/officeDocument/2006/relationships/notesSlide" Target="/ppt/notesSlides/notesSlide11.xml" Id="R0a79eb5df6d84a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8b0163b76482a" /><Relationship Type="http://schemas.openxmlformats.org/officeDocument/2006/relationships/notesSlide" Target="/ppt/notesSlides/notesSlide12.xml" Id="Rbe195c222cf14c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423ad53c74a46" /><Relationship Type="http://schemas.openxmlformats.org/officeDocument/2006/relationships/notesSlide" Target="/ppt/notesSlides/notesSlide13.xml" Id="R990c419a30de48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771c46bb9481d" /><Relationship Type="http://schemas.openxmlformats.org/officeDocument/2006/relationships/notesSlide" Target="/ppt/notesSlides/notesSlide14.xml" Id="R995c4b6b8f8241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696ce33042e9" /><Relationship Type="http://schemas.openxmlformats.org/officeDocument/2006/relationships/notesSlide" Target="/ppt/notesSlides/notesSlide15.xml" Id="Ra2c1effad405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399cb25084f80"/>
          <a:stretch xmlns:a="http://schemas.openxmlformats.org/drawingml/2006/main"/>
        </p:blipFill>
        <p:spPr>
          <a:xfrm xmlns:a="http://schemas.openxmlformats.org/drawingml/2006/main">
            <a:off x="685800" y="552450"/>
            <a:ext cx="238125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B726441-CB3E-44F5-8D61-554C6651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Run every pond with clearer data, tighter control and faster decisions.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0612F6-E4F5-4008-911B-BD0B8D4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 connected management platform for modern shrimp farms.</a:t>
            </a:r>
          </a:p>
        </p:txBody>
      </p:sp>
      <p:sp>
        <p:nvSpPr>
          <p:cNvPr id="4" name="cover-client">
            <a:extLst xmlns:a="http://schemas.openxmlformats.org/drawingml/2006/main">
              <a:ext uri="{FF2B5EF4-FFF2-40B4-BE49-F238E27FC236}">
                <a16:creationId xmlns:a16="http://schemas.microsoft.com/office/drawing/2014/main" id="{A0F10233-7157-401E-B229-34B59E6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PREPARED FOR  [CLIENT NAME]</a:t>
            </a:r>
          </a:p>
        </p:txBody>
      </p:sp>
      <p:sp>
        <p:nvSpPr>
          <p:cNvPr id="5" name="media-placeholder-Add a farm image, product overview or short opening video">
            <a:extLst xmlns:a="http://schemas.openxmlformats.org/drawingml/2006/main">
              <a:ext uri="{FF2B5EF4-FFF2-40B4-BE49-F238E27FC236}">
                <a16:creationId xmlns:a16="http://schemas.microsoft.com/office/drawing/2014/main" id="{140AA41F-B39E-42C2-9AA2-02F96E3E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6" name="media-plus-Add a farm image, product overview or short opening video">
            <a:extLst xmlns:a="http://schemas.openxmlformats.org/drawingml/2006/main">
              <a:ext uri="{FF2B5EF4-FFF2-40B4-BE49-F238E27FC236}">
                <a16:creationId xmlns:a16="http://schemas.microsoft.com/office/drawing/2014/main" id="{DA01358D-E91E-4B2D-991E-0D8EC6AB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7" name="media-label-Add a farm image, product overview or short opening video">
            <a:extLst xmlns:a="http://schemas.openxmlformats.org/drawingml/2006/main">
              <a:ext uri="{FF2B5EF4-FFF2-40B4-BE49-F238E27FC236}">
                <a16:creationId xmlns:a16="http://schemas.microsoft.com/office/drawing/2014/main" id="{8F4545A0-E71A-4595-9FE9-E612ABC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8" name="media-hint-Add a farm image, product overview or short opening video">
            <a:extLst xmlns:a="http://schemas.openxmlformats.org/drawingml/2006/main">
              <a:ext uri="{FF2B5EF4-FFF2-40B4-BE49-F238E27FC236}">
                <a16:creationId xmlns:a16="http://schemas.microsoft.com/office/drawing/2014/main" id="{008420C7-479C-4FA1-91A5-1E3A0F9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farm image, product overview or short opening video</a:t>
            </a:r>
          </a:p>
        </p:txBody>
      </p:sp>
      <p:sp>
        <p:nvSpPr>
          <p:cNvPr id="9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8E77F108-DDAE-4654-A5CA-25C46024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0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02A6122F-7398-4B0C-A341-2730C1DA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1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A7F12491-0B81-41B1-8D9C-5AE4F0A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0077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The challenge">
            <a:extLst xmlns:a="http://schemas.openxmlformats.org/drawingml/2006/main">
              <a:ext uri="{FF2B5EF4-FFF2-40B4-BE49-F238E27FC236}">
                <a16:creationId xmlns:a16="http://schemas.microsoft.com/office/drawing/2014/main" id="{DB99D90F-0D1A-4970-ACF7-387635F3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The challenge">
            <a:extLst xmlns:a="http://schemas.openxmlformats.org/drawingml/2006/main">
              <a:ext uri="{FF2B5EF4-FFF2-40B4-BE49-F238E27FC236}">
                <a16:creationId xmlns:a16="http://schemas.microsoft.com/office/drawing/2014/main" id="{B4F87147-31F8-400F-AE99-9263FF40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THE CHALLENGE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9DAC491-468E-477C-AEE9-D0F14AC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Farm performance becomes harder to control when information is fragmented.</a:t>
            </a:r>
          </a:p>
        </p:txBody>
      </p:sp>
      <p:sp>
        <p:nvSpPr>
          <p:cNvPr id="4" name="bullets-2">
            <a:extLst xmlns:a="http://schemas.openxmlformats.org/drawingml/2006/main">
              <a:ext uri="{FF2B5EF4-FFF2-40B4-BE49-F238E27FC236}">
                <a16:creationId xmlns:a16="http://schemas.microsoft.com/office/drawing/2014/main" id="{196AAC04-2EED-4F5E-B021-078665B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Pond records are spread across notebooks, spreadsheets and messages.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Feed usage and inventory are difficult to reconcile.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Management receives production information too late.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Financial and operational performance are rarely viewed together.</a:t>
            </a:r>
          </a:p>
        </p:txBody>
      </p:sp>
      <p:sp>
        <p:nvSpPr>
          <p:cNvPr id="5" name="benefit-accent-Shrimply creates o">
            <a:extLst xmlns:a="http://schemas.openxmlformats.org/drawingml/2006/main">
              <a:ext uri="{FF2B5EF4-FFF2-40B4-BE49-F238E27FC236}">
                <a16:creationId xmlns:a16="http://schemas.microsoft.com/office/drawing/2014/main" id="{D5FC4143-75FE-45F1-8BD0-DA164854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Shrimply creates o">
            <a:extLst xmlns:a="http://schemas.openxmlformats.org/drawingml/2006/main">
              <a:ext uri="{FF2B5EF4-FFF2-40B4-BE49-F238E27FC236}">
                <a16:creationId xmlns:a16="http://schemas.microsoft.com/office/drawing/2014/main" id="{B249708D-DA4D-49D5-A168-FBCF160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Shrimply creates one reliable operating view for the entire farm.</a:t>
            </a:r>
          </a:p>
        </p:txBody>
      </p:sp>
      <p:sp>
        <p:nvSpPr>
          <p:cNvPr id="7" name="media-placeholder-Add a farm-workflow image or context video">
            <a:extLst xmlns:a="http://schemas.openxmlformats.org/drawingml/2006/main">
              <a:ext uri="{FF2B5EF4-FFF2-40B4-BE49-F238E27FC236}">
                <a16:creationId xmlns:a16="http://schemas.microsoft.com/office/drawing/2014/main" id="{18416FBD-B131-4D5B-9CAF-3751F88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a farm-workflow image or context video">
            <a:extLst xmlns:a="http://schemas.openxmlformats.org/drawingml/2006/main">
              <a:ext uri="{FF2B5EF4-FFF2-40B4-BE49-F238E27FC236}">
                <a16:creationId xmlns:a16="http://schemas.microsoft.com/office/drawing/2014/main" id="{D28D6472-28AF-4D7A-9558-0DE71F2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farm-workflow image or context video">
            <a:extLst xmlns:a="http://schemas.openxmlformats.org/drawingml/2006/main">
              <a:ext uri="{FF2B5EF4-FFF2-40B4-BE49-F238E27FC236}">
                <a16:creationId xmlns:a16="http://schemas.microsoft.com/office/drawing/2014/main" id="{7DADF217-1FD1-44FB-8B3A-1FDD4AB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farm-workflow image or context video">
            <a:extLst xmlns:a="http://schemas.openxmlformats.org/drawingml/2006/main">
              <a:ext uri="{FF2B5EF4-FFF2-40B4-BE49-F238E27FC236}">
                <a16:creationId xmlns:a16="http://schemas.microsoft.com/office/drawing/2014/main" id="{0F8BAA57-79A3-42ED-8735-D56FD10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farm-workflow image or context video</a:t>
            </a:r>
          </a:p>
        </p:txBody>
      </p:sp>
      <p:sp>
        <p:nvSpPr>
          <p:cNvPr id="11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21ADC987-93A8-4422-8C41-7DF912A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2BA027F5-EDB9-4A0D-90DC-9ED7E93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78306A6B-15F1-4425-82A4-B3B87952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5617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One connected platform">
            <a:extLst xmlns:a="http://schemas.openxmlformats.org/drawingml/2006/main">
              <a:ext uri="{FF2B5EF4-FFF2-40B4-BE49-F238E27FC236}">
                <a16:creationId xmlns:a16="http://schemas.microsoft.com/office/drawing/2014/main" id="{8DF44E51-133C-4620-960B-ACCC24E6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One connected platform">
            <a:extLst xmlns:a="http://schemas.openxmlformats.org/drawingml/2006/main">
              <a:ext uri="{FF2B5EF4-FFF2-40B4-BE49-F238E27FC236}">
                <a16:creationId xmlns:a16="http://schemas.microsoft.com/office/drawing/2014/main" id="{DE0B4624-7A0E-4FA3-9D4E-CC92C3B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ONE CONNECTED PLATFORM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6AE83BF0-E286-4BA2-A3AC-543669CB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Shrimply brings daily farm operations into one live system.</a:t>
            </a:r>
          </a:p>
        </p:txBody>
      </p:sp>
      <p:sp>
        <p:nvSpPr>
          <p:cNvPr id="4" name="bullets-3">
            <a:extLst xmlns:a="http://schemas.openxmlformats.org/drawingml/2006/main">
              <a:ext uri="{FF2B5EF4-FFF2-40B4-BE49-F238E27FC236}">
                <a16:creationId xmlns:a16="http://schemas.microsoft.com/office/drawing/2014/main" id="{0CCEA003-7E56-4B5B-B560-DA59C079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Pond and production management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Sampling and water-quality records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Feeding and inventory control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Finance, reporting, team roles and Orson AI</a:t>
            </a:r>
          </a:p>
        </p:txBody>
      </p:sp>
      <p:sp>
        <p:nvSpPr>
          <p:cNvPr id="5" name="benefit-accent-Mobile and web acc">
            <a:extLst xmlns:a="http://schemas.openxmlformats.org/drawingml/2006/main">
              <a:ext uri="{FF2B5EF4-FFF2-40B4-BE49-F238E27FC236}">
                <a16:creationId xmlns:a16="http://schemas.microsoft.com/office/drawing/2014/main" id="{935C5E62-BDE6-4A1E-99FD-5BF79C65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Mobile and web acc">
            <a:extLst xmlns:a="http://schemas.openxmlformats.org/drawingml/2006/main">
              <a:ext uri="{FF2B5EF4-FFF2-40B4-BE49-F238E27FC236}">
                <a16:creationId xmlns:a16="http://schemas.microsoft.com/office/drawing/2014/main" id="{FC3AB8E8-47DF-467E-A7C8-443FB31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Mobile and web access keep authorised teams aligned around shared company data.</a:t>
            </a:r>
          </a:p>
        </p:txBody>
      </p:sp>
      <p:sp>
        <p:nvSpPr>
          <p:cNvPr id="7" name="media-placeholder-Add a platform overvie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C975C7FA-2BE9-4DC0-B89E-28BF3072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142E46"/>
          </a:solidFill>
          <a:ln xmlns:a="http://schemas.openxmlformats.org/drawingml/2006/main" w="19050">
            <a:solidFill>
              <a:srgbClr val="507A98"/>
            </a:solidFill>
            <a:prstDash val="dash"/>
          </a:ln>
        </p:spPr>
      </p:sp>
      <p:sp>
        <p:nvSpPr>
          <p:cNvPr id="8" name="media-plus-Add a platform overvie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D1AABA08-9A77-4476-855D-6936228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platform overvie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6988E4F2-E9F8-4BCF-949D-4434186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platform overvie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5EF3C98C-1687-4B13-BE51-75B833FA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Add a platform overview screenshot or video</a:t>
            </a:r>
          </a:p>
        </p:txBody>
      </p:sp>
      <p:sp>
        <p:nvSpPr>
          <p:cNvPr id="11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E170E247-FB9E-46ED-ACD3-77C8AE0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36B"/>
            </a:solidFill>
            <a:prstDash val="solid"/>
          </a:ln>
        </p:spPr>
      </p:sp>
      <p:sp>
        <p:nvSpPr>
          <p:cNvPr id="12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E243BF2F-E13D-483E-8387-D96F8A0F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62B0688A-7A10-4A9F-B19B-BA4D5D2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3405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Smart dashboard">
            <a:extLst xmlns:a="http://schemas.openxmlformats.org/drawingml/2006/main">
              <a:ext uri="{FF2B5EF4-FFF2-40B4-BE49-F238E27FC236}">
                <a16:creationId xmlns:a16="http://schemas.microsoft.com/office/drawing/2014/main" id="{06E73157-03C6-4465-8D9D-AB9199D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Smart dashboard">
            <a:extLst xmlns:a="http://schemas.openxmlformats.org/drawingml/2006/main">
              <a:ext uri="{FF2B5EF4-FFF2-40B4-BE49-F238E27FC236}">
                <a16:creationId xmlns:a16="http://schemas.microsoft.com/office/drawing/2014/main" id="{A85A8200-6D10-42BC-A4A9-BFDF999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SMART DASHBOARD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197F8DE-C21D-49AA-816D-8FAE99B0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Know what is happening across the farm at a glance.</a:t>
            </a:r>
          </a:p>
        </p:txBody>
      </p:sp>
      <p:sp>
        <p:nvSpPr>
          <p:cNvPr id="4" name="bullets-4">
            <a:extLst xmlns:a="http://schemas.openxmlformats.org/drawingml/2006/main">
              <a:ext uri="{FF2B5EF4-FFF2-40B4-BE49-F238E27FC236}">
                <a16:creationId xmlns:a16="http://schemas.microsoft.com/office/drawing/2014/main" id="{7AD7F609-6FA1-4D38-B2AE-EEA0EF6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View summarised performance across all ponds.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Open any pond for detailed operational metrics.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Follow current pond status and production activity.</a:t>
            </a:r>
          </a:p>
        </p:txBody>
      </p:sp>
      <p:sp>
        <p:nvSpPr>
          <p:cNvPr id="5" name="benefit-accent-Management gains a">
            <a:extLst xmlns:a="http://schemas.openxmlformats.org/drawingml/2006/main">
              <a:ext uri="{FF2B5EF4-FFF2-40B4-BE49-F238E27FC236}">
                <a16:creationId xmlns:a16="http://schemas.microsoft.com/office/drawing/2014/main" id="{27292920-2F45-41A5-8146-F38DBE63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Management gains a">
            <a:extLst xmlns:a="http://schemas.openxmlformats.org/drawingml/2006/main">
              <a:ext uri="{FF2B5EF4-FFF2-40B4-BE49-F238E27FC236}">
                <a16:creationId xmlns:a16="http://schemas.microsoft.com/office/drawing/2014/main" id="{C5C2600D-6395-4A07-9B93-DDDBF3C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Management gains a faster, shared view of farm performance.</a:t>
            </a:r>
          </a:p>
        </p:txBody>
      </p:sp>
      <p:sp>
        <p:nvSpPr>
          <p:cNvPr id="7" name="media-placeholder-Add the farm dashboard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C65DAC92-3C14-4FC8-BF1E-3A3FA65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the farm dashboard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93E1C309-42E7-4C52-A68B-FF30E48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farm dashboard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5D32286C-198D-4EF7-9378-440B6BA8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farm dashboard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C23D0DB1-2BE0-4E57-8764-6871606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the farm dashboard screenshot or video</a:t>
            </a:r>
          </a:p>
        </p:txBody>
      </p:sp>
      <p:sp>
        <p:nvSpPr>
          <p:cNvPr id="11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C79F692D-7D0A-47EB-9520-03BCCB3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50B1CDEA-42D2-434C-9B2D-C282195F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8245B57B-F83D-41E3-BE20-62070722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0131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Pond intelligence">
            <a:extLst xmlns:a="http://schemas.openxmlformats.org/drawingml/2006/main">
              <a:ext uri="{FF2B5EF4-FFF2-40B4-BE49-F238E27FC236}">
                <a16:creationId xmlns:a16="http://schemas.microsoft.com/office/drawing/2014/main" id="{E4BD31E5-6AD1-4C8A-879A-AD83421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Pond intelligence">
            <a:extLst xmlns:a="http://schemas.openxmlformats.org/drawingml/2006/main">
              <a:ext uri="{FF2B5EF4-FFF2-40B4-BE49-F238E27FC236}">
                <a16:creationId xmlns:a16="http://schemas.microsoft.com/office/drawing/2014/main" id="{45A1657E-84ED-4674-B2BD-F87BCE81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POND INTELLIGENCE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F629D71-E061-4BF1-82C1-7858ADCF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Follow each pond from stocking through harvest.</a:t>
            </a:r>
          </a:p>
        </p:txBody>
      </p:sp>
      <p:sp>
        <p:nvSpPr>
          <p:cNvPr id="4" name="bullets-5">
            <a:extLst xmlns:a="http://schemas.openxmlformats.org/drawingml/2006/main">
              <a:ext uri="{FF2B5EF4-FFF2-40B4-BE49-F238E27FC236}">
                <a16:creationId xmlns:a16="http://schemas.microsoft.com/office/drawing/2014/main" id="{41BFCD0F-4387-419E-B934-2A499981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Record sampling, mortality, feed observations and water quality.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Follow MBW, ADG, survival, biomass and FCR trends.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Review historical records instead of one isolated reading.</a:t>
            </a:r>
          </a:p>
        </p:txBody>
      </p:sp>
      <p:sp>
        <p:nvSpPr>
          <p:cNvPr id="5" name="benefit-accent-Biological changes">
            <a:extLst xmlns:a="http://schemas.openxmlformats.org/drawingml/2006/main">
              <a:ext uri="{FF2B5EF4-FFF2-40B4-BE49-F238E27FC236}">
                <a16:creationId xmlns:a16="http://schemas.microsoft.com/office/drawing/2014/main" id="{DCC528F6-C98C-4F9C-9047-C30CFA78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Biological changes">
            <a:extLst xmlns:a="http://schemas.openxmlformats.org/drawingml/2006/main">
              <a:ext uri="{FF2B5EF4-FFF2-40B4-BE49-F238E27FC236}">
                <a16:creationId xmlns:a16="http://schemas.microsoft.com/office/drawing/2014/main" id="{41E23665-47B1-44B2-83C8-15A9FE3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Biological changes become easier to recognise and discuss.</a:t>
            </a:r>
          </a:p>
        </p:txBody>
      </p:sp>
      <p:sp>
        <p:nvSpPr>
          <p:cNvPr id="7" name="media-placeholder-Add a pond-detail, sampling or water-quality workflow">
            <a:extLst xmlns:a="http://schemas.openxmlformats.org/drawingml/2006/main">
              <a:ext uri="{FF2B5EF4-FFF2-40B4-BE49-F238E27FC236}">
                <a16:creationId xmlns:a16="http://schemas.microsoft.com/office/drawing/2014/main" id="{39E80FB2-FD77-46F0-BB88-5D4E1A0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a pond-detail, sampling or water-quality workflow">
            <a:extLst xmlns:a="http://schemas.openxmlformats.org/drawingml/2006/main">
              <a:ext uri="{FF2B5EF4-FFF2-40B4-BE49-F238E27FC236}">
                <a16:creationId xmlns:a16="http://schemas.microsoft.com/office/drawing/2014/main" id="{4713B272-FC40-4A63-B55E-2B31131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pond-detail, sampling or water-quality workflow">
            <a:extLst xmlns:a="http://schemas.openxmlformats.org/drawingml/2006/main">
              <a:ext uri="{FF2B5EF4-FFF2-40B4-BE49-F238E27FC236}">
                <a16:creationId xmlns:a16="http://schemas.microsoft.com/office/drawing/2014/main" id="{C2444D14-165B-48C2-839C-DF716C3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pond-detail, sampling or water-quality workflow">
            <a:extLst xmlns:a="http://schemas.openxmlformats.org/drawingml/2006/main">
              <a:ext uri="{FF2B5EF4-FFF2-40B4-BE49-F238E27FC236}">
                <a16:creationId xmlns:a16="http://schemas.microsoft.com/office/drawing/2014/main" id="{193BDF03-3D0C-4251-8F7F-DBD1391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pond-detail, sampling or water-quality workflow</a:t>
            </a:r>
          </a:p>
        </p:txBody>
      </p:sp>
      <p:sp>
        <p:nvSpPr>
          <p:cNvPr id="11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A959F902-7F59-4F23-9609-1193757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E8A3834F-E939-48A9-8F25-E9B40CD3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E4C0C9DA-02F4-48E4-AB78-22B1F5F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4145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Feeding &amp; inventory">
            <a:extLst xmlns:a="http://schemas.openxmlformats.org/drawingml/2006/main">
              <a:ext uri="{FF2B5EF4-FFF2-40B4-BE49-F238E27FC236}">
                <a16:creationId xmlns:a16="http://schemas.microsoft.com/office/drawing/2014/main" id="{6A642D14-490D-4EDE-9CC2-041ADF7B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Feeding &amp; inventory">
            <a:extLst xmlns:a="http://schemas.openxmlformats.org/drawingml/2006/main">
              <a:ext uri="{FF2B5EF4-FFF2-40B4-BE49-F238E27FC236}">
                <a16:creationId xmlns:a16="http://schemas.microsoft.com/office/drawing/2014/main" id="{D622FA89-3AC7-4E42-9548-90939C88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FEEDING &amp; INVENTORY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E8708EF4-D421-4DF7-8073-EA98001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Connect every feeding activity to actual stock movement.</a:t>
            </a:r>
          </a:p>
        </p:txBody>
      </p:sp>
      <p:sp>
        <p:nvSpPr>
          <p:cNvPr id="4" name="bullets-6">
            <a:extLst xmlns:a="http://schemas.openxmlformats.org/drawingml/2006/main">
              <a:ext uri="{FF2B5EF4-FFF2-40B4-BE49-F238E27FC236}">
                <a16:creationId xmlns:a16="http://schemas.microsoft.com/office/drawing/2014/main" id="{0E3641B1-92E0-4915-94F9-CF5F2CDE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Record daily feeding by pond.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Deduct feed through the operational feeding workflow.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Track quantities, prices and inventory value.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Receive low-stock and restocking alerts.</a:t>
            </a:r>
          </a:p>
        </p:txBody>
      </p:sp>
      <p:sp>
        <p:nvSpPr>
          <p:cNvPr id="5" name="benefit-accent-Better control ove">
            <a:extLst xmlns:a="http://schemas.openxmlformats.org/drawingml/2006/main">
              <a:ext uri="{FF2B5EF4-FFF2-40B4-BE49-F238E27FC236}">
                <a16:creationId xmlns:a16="http://schemas.microsoft.com/office/drawing/2014/main" id="{83DB6D68-98C2-4BD8-AD1A-4ED8496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Better control ove">
            <a:extLst xmlns:a="http://schemas.openxmlformats.org/drawingml/2006/main">
              <a:ext uri="{FF2B5EF4-FFF2-40B4-BE49-F238E27FC236}">
                <a16:creationId xmlns:a16="http://schemas.microsoft.com/office/drawing/2014/main" id="{8E3E2780-C917-4FD4-A748-96E6DFB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Better control over feed usage, purchasing and stock availability.</a:t>
            </a:r>
          </a:p>
        </p:txBody>
      </p:sp>
      <p:sp>
        <p:nvSpPr>
          <p:cNvPr id="7" name="media-placeholder-Add the feeding-to-inventory workflow video">
            <a:extLst xmlns:a="http://schemas.openxmlformats.org/drawingml/2006/main">
              <a:ext uri="{FF2B5EF4-FFF2-40B4-BE49-F238E27FC236}">
                <a16:creationId xmlns:a16="http://schemas.microsoft.com/office/drawing/2014/main" id="{DF6B1563-D1BD-4982-94E0-1C45ED5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the feeding-to-inventory workflow video">
            <a:extLst xmlns:a="http://schemas.openxmlformats.org/drawingml/2006/main">
              <a:ext uri="{FF2B5EF4-FFF2-40B4-BE49-F238E27FC236}">
                <a16:creationId xmlns:a16="http://schemas.microsoft.com/office/drawing/2014/main" id="{4B67BE7F-EE9C-4CD5-9429-BF717798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feeding-to-inventory workflow video">
            <a:extLst xmlns:a="http://schemas.openxmlformats.org/drawingml/2006/main">
              <a:ext uri="{FF2B5EF4-FFF2-40B4-BE49-F238E27FC236}">
                <a16:creationId xmlns:a16="http://schemas.microsoft.com/office/drawing/2014/main" id="{1B102865-6553-4F95-8A32-F04FCF0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feeding-to-inventory workflow video">
            <a:extLst xmlns:a="http://schemas.openxmlformats.org/drawingml/2006/main">
              <a:ext uri="{FF2B5EF4-FFF2-40B4-BE49-F238E27FC236}">
                <a16:creationId xmlns:a16="http://schemas.microsoft.com/office/drawing/2014/main" id="{40B88F9C-351B-4B91-9B84-FAFA4CD2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the feeding-to-inventory workflow video</a:t>
            </a:r>
          </a:p>
        </p:txBody>
      </p:sp>
      <p:sp>
        <p:nvSpPr>
          <p:cNvPr id="11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8580D2A1-860D-4E4F-AEF4-24DBA40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BC54A846-54AA-4D6E-85E5-4BD5A81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8992F0D1-BD0D-4570-973A-53E1136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270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Orson AI">
            <a:extLst xmlns:a="http://schemas.openxmlformats.org/drawingml/2006/main">
              <a:ext uri="{FF2B5EF4-FFF2-40B4-BE49-F238E27FC236}">
                <a16:creationId xmlns:a16="http://schemas.microsoft.com/office/drawing/2014/main" id="{A32413C7-452A-4B88-949F-4091E18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Orson AI">
            <a:extLst xmlns:a="http://schemas.openxmlformats.org/drawingml/2006/main">
              <a:ext uri="{FF2B5EF4-FFF2-40B4-BE49-F238E27FC236}">
                <a16:creationId xmlns:a16="http://schemas.microsoft.com/office/drawing/2014/main" id="{818FB011-44C1-4821-B6D6-6F4BDD8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ORSON AI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3665126F-66B6-4D96-B146-5117B7FC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Turn farm history into practical decision support.</a:t>
            </a:r>
          </a:p>
        </p:txBody>
      </p:sp>
      <p:sp>
        <p:nvSpPr>
          <p:cNvPr id="4" name="bullets-7">
            <a:extLst xmlns:a="http://schemas.openxmlformats.org/drawingml/2006/main">
              <a:ext uri="{FF2B5EF4-FFF2-40B4-BE49-F238E27FC236}">
                <a16:creationId xmlns:a16="http://schemas.microsoft.com/office/drawing/2014/main" id="{C64988D1-17C1-4B9A-A108-E9B2A642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Reviews recent sampling, feeding and water-quality records.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Highlights growth variation and operational risk signals.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Supports harvest and production projections.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Provides contextual aquaculture guidance.</a:t>
            </a:r>
          </a:p>
        </p:txBody>
      </p:sp>
      <p:sp>
        <p:nvSpPr>
          <p:cNvPr id="5" name="benefit-accent-Orson supports pro">
            <a:extLst xmlns:a="http://schemas.openxmlformats.org/drawingml/2006/main">
              <a:ext uri="{FF2B5EF4-FFF2-40B4-BE49-F238E27FC236}">
                <a16:creationId xmlns:a16="http://schemas.microsoft.com/office/drawing/2014/main" id="{24407CB9-3CD8-4DA0-9F6E-52F997F9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Orson supports pro">
            <a:extLst xmlns:a="http://schemas.openxmlformats.org/drawingml/2006/main">
              <a:ext uri="{FF2B5EF4-FFF2-40B4-BE49-F238E27FC236}">
                <a16:creationId xmlns:a16="http://schemas.microsoft.com/office/drawing/2014/main" id="{A4DC377E-8F5E-405A-9B45-DB9C2C55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Orson supports professional judgement; it does not replace farm specialists.</a:t>
            </a:r>
          </a:p>
        </p:txBody>
      </p:sp>
      <p:sp>
        <p:nvSpPr>
          <p:cNvPr id="7" name="media-placeholder-Add an Orson AI analysis video">
            <a:extLst xmlns:a="http://schemas.openxmlformats.org/drawingml/2006/main">
              <a:ext uri="{FF2B5EF4-FFF2-40B4-BE49-F238E27FC236}">
                <a16:creationId xmlns:a16="http://schemas.microsoft.com/office/drawing/2014/main" id="{B948D9F8-F34F-44A7-A9D0-30697F8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142E46"/>
          </a:solidFill>
          <a:ln xmlns:a="http://schemas.openxmlformats.org/drawingml/2006/main" w="19050">
            <a:solidFill>
              <a:srgbClr val="507A98"/>
            </a:solidFill>
            <a:prstDash val="dash"/>
          </a:ln>
        </p:spPr>
      </p:sp>
      <p:sp>
        <p:nvSpPr>
          <p:cNvPr id="8" name="media-plus-Add an Orson AI analysis video">
            <a:extLst xmlns:a="http://schemas.openxmlformats.org/drawingml/2006/main">
              <a:ext uri="{FF2B5EF4-FFF2-40B4-BE49-F238E27FC236}">
                <a16:creationId xmlns:a16="http://schemas.microsoft.com/office/drawing/2014/main" id="{254819E5-70E7-4244-B483-308F186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n Orson AI analysis video">
            <a:extLst xmlns:a="http://schemas.openxmlformats.org/drawingml/2006/main">
              <a:ext uri="{FF2B5EF4-FFF2-40B4-BE49-F238E27FC236}">
                <a16:creationId xmlns:a16="http://schemas.microsoft.com/office/drawing/2014/main" id="{3B8C0482-8FD3-48E8-896E-435235FC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n Orson AI analysis video">
            <a:extLst xmlns:a="http://schemas.openxmlformats.org/drawingml/2006/main">
              <a:ext uri="{FF2B5EF4-FFF2-40B4-BE49-F238E27FC236}">
                <a16:creationId xmlns:a16="http://schemas.microsoft.com/office/drawing/2014/main" id="{D37A99FC-F084-4FCC-8954-C41C089C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Add an Orson AI analysis video</a:t>
            </a:r>
          </a:p>
        </p:txBody>
      </p:sp>
      <p:sp>
        <p:nvSpPr>
          <p:cNvPr id="11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4E113FAF-4EA5-421E-9E2C-A87D980C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36B"/>
            </a:solidFill>
            <a:prstDash val="solid"/>
          </a:ln>
        </p:spPr>
      </p:sp>
      <p:sp>
        <p:nvSpPr>
          <p:cNvPr id="12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DC0077A8-3971-4FE7-AA7C-855A289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BB097A18-12BD-4946-984F-C948F962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2229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BioShield">
            <a:extLst xmlns:a="http://schemas.openxmlformats.org/drawingml/2006/main">
              <a:ext uri="{FF2B5EF4-FFF2-40B4-BE49-F238E27FC236}">
                <a16:creationId xmlns:a16="http://schemas.microsoft.com/office/drawing/2014/main" id="{798C2874-18FC-422F-BED6-829F468A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BioShield">
            <a:extLst xmlns:a="http://schemas.openxmlformats.org/drawingml/2006/main">
              <a:ext uri="{FF2B5EF4-FFF2-40B4-BE49-F238E27FC236}">
                <a16:creationId xmlns:a16="http://schemas.microsoft.com/office/drawing/2014/main" id="{8ADE2625-EF7F-45A9-8608-0970AF36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BIOSHIELD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8332D92D-EB31-4917-8945-93D961B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See local disease threats earlier.</a:t>
            </a:r>
          </a:p>
        </p:txBody>
      </p:sp>
      <p:sp>
        <p:nvSpPr>
          <p:cNvPr id="4" name="bullets-8">
            <a:extLst xmlns:a="http://schemas.openxmlformats.org/drawingml/2006/main">
              <a:ext uri="{FF2B5EF4-FFF2-40B4-BE49-F238E27FC236}">
                <a16:creationId xmlns:a16="http://schemas.microsoft.com/office/drawing/2014/main" id="{3B991773-BBE8-4DF7-9E56-7241C39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Report disease incidents.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Receive notifications about nearby outbreaks.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Share early-warning information across the farming community.</a:t>
            </a:r>
          </a:p>
        </p:txBody>
      </p:sp>
      <p:sp>
        <p:nvSpPr>
          <p:cNvPr id="5" name="benefit-accent-Earlier visibility">
            <a:extLst xmlns:a="http://schemas.openxmlformats.org/drawingml/2006/main">
              <a:ext uri="{FF2B5EF4-FFF2-40B4-BE49-F238E27FC236}">
                <a16:creationId xmlns:a16="http://schemas.microsoft.com/office/drawing/2014/main" id="{507FD25B-985C-4E91-83C0-74B2322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Earlier visibility">
            <a:extLst xmlns:a="http://schemas.openxmlformats.org/drawingml/2006/main">
              <a:ext uri="{FF2B5EF4-FFF2-40B4-BE49-F238E27FC236}">
                <a16:creationId xmlns:a16="http://schemas.microsoft.com/office/drawing/2014/main" id="{CAE7DACB-FE40-4F40-8082-EED06A7E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Earlier visibility supports faster biosecurity discussions and action.</a:t>
            </a:r>
          </a:p>
        </p:txBody>
      </p:sp>
      <p:sp>
        <p:nvSpPr>
          <p:cNvPr id="7" name="media-placeholder-Add a BioShield alert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5D4B7FBD-DD0C-4203-8EA3-0B6DB85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a BioShield alert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E4D29048-93BF-4A9A-A52E-3365C5B4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BioShield alert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982D0FA1-C07B-476C-9979-F741A67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BioShield alert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7D73EFF8-0893-4974-AB9E-232A8D35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BioShield alert screenshot or video</a:t>
            </a:r>
          </a:p>
        </p:txBody>
      </p:sp>
      <p:sp>
        <p:nvSpPr>
          <p:cNvPr id="11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87290C8E-011E-410E-B566-801A674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33FAD161-71BC-4F2E-93CD-03F19B1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1FD6CE6A-7288-441B-986F-CEC2AFF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0876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Finance dashboard">
            <a:extLst xmlns:a="http://schemas.openxmlformats.org/drawingml/2006/main">
              <a:ext uri="{FF2B5EF4-FFF2-40B4-BE49-F238E27FC236}">
                <a16:creationId xmlns:a16="http://schemas.microsoft.com/office/drawing/2014/main" id="{047DCBB1-880E-44E6-85AE-1DE8128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Finance dashboard">
            <a:extLst xmlns:a="http://schemas.openxmlformats.org/drawingml/2006/main">
              <a:ext uri="{FF2B5EF4-FFF2-40B4-BE49-F238E27FC236}">
                <a16:creationId xmlns:a16="http://schemas.microsoft.com/office/drawing/2014/main" id="{69493483-BF99-41DF-B085-57C8624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FINANCE DASHBOARD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572DE55B-BE8E-4BFF-BD58-D8BE07E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Connect farm activity to business performance.</a:t>
            </a:r>
          </a:p>
        </p:txBody>
      </p:sp>
      <p:sp>
        <p:nvSpPr>
          <p:cNvPr id="4" name="bullets-9">
            <a:extLst xmlns:a="http://schemas.openxmlformats.org/drawingml/2006/main">
              <a:ext uri="{FF2B5EF4-FFF2-40B4-BE49-F238E27FC236}">
                <a16:creationId xmlns:a16="http://schemas.microsoft.com/office/drawing/2014/main" id="{7C3E0E74-829A-43F5-8FA1-76B2892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Track expenses and revenue centrally.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Connect harvest revenue and inventory-related expenses.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Review operational and financial performance together.</a:t>
            </a:r>
          </a:p>
        </p:txBody>
      </p:sp>
      <p:sp>
        <p:nvSpPr>
          <p:cNvPr id="5" name="benefit-accent-Owners can evaluat">
            <a:extLst xmlns:a="http://schemas.openxmlformats.org/drawingml/2006/main">
              <a:ext uri="{FF2B5EF4-FFF2-40B4-BE49-F238E27FC236}">
                <a16:creationId xmlns:a16="http://schemas.microsoft.com/office/drawing/2014/main" id="{303C7044-87C5-470B-A804-5096B120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Owners can evaluat">
            <a:extLst xmlns:a="http://schemas.openxmlformats.org/drawingml/2006/main">
              <a:ext uri="{FF2B5EF4-FFF2-40B4-BE49-F238E27FC236}">
                <a16:creationId xmlns:a16="http://schemas.microsoft.com/office/drawing/2014/main" id="{E571802D-C635-4D59-8D64-B44FD6F6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Owners can evaluate production decisions in business terms.</a:t>
            </a:r>
          </a:p>
        </p:txBody>
      </p:sp>
      <p:sp>
        <p:nvSpPr>
          <p:cNvPr id="7" name="media-placeholder-Add the finance dashboard screenshot">
            <a:extLst xmlns:a="http://schemas.openxmlformats.org/drawingml/2006/main">
              <a:ext uri="{FF2B5EF4-FFF2-40B4-BE49-F238E27FC236}">
                <a16:creationId xmlns:a16="http://schemas.microsoft.com/office/drawing/2014/main" id="{DB727F97-7AF3-4172-B9C2-178CB985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the finance dashboard screenshot">
            <a:extLst xmlns:a="http://schemas.openxmlformats.org/drawingml/2006/main">
              <a:ext uri="{FF2B5EF4-FFF2-40B4-BE49-F238E27FC236}">
                <a16:creationId xmlns:a16="http://schemas.microsoft.com/office/drawing/2014/main" id="{7CCB7331-A292-4CEC-8895-6F938687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finance dashboard screenshot">
            <a:extLst xmlns:a="http://schemas.openxmlformats.org/drawingml/2006/main">
              <a:ext uri="{FF2B5EF4-FFF2-40B4-BE49-F238E27FC236}">
                <a16:creationId xmlns:a16="http://schemas.microsoft.com/office/drawing/2014/main" id="{08B32647-C6BA-405B-B7AD-F46CEF7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finance dashboard screenshot">
            <a:extLst xmlns:a="http://schemas.openxmlformats.org/drawingml/2006/main">
              <a:ext uri="{FF2B5EF4-FFF2-40B4-BE49-F238E27FC236}">
                <a16:creationId xmlns:a16="http://schemas.microsoft.com/office/drawing/2014/main" id="{9AB4C63B-01EC-46C8-A994-88B9857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the finance dashboard screenshot</a:t>
            </a:r>
          </a:p>
        </p:txBody>
      </p:sp>
      <p:sp>
        <p:nvSpPr>
          <p:cNvPr id="11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34ACD601-61EF-41DE-9EDB-82153EA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4C82CB1-0BCF-455D-8175-E8D8361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57CD083F-9D4E-47AB-AAD2-6EFE77B8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1974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Professional reports">
            <a:extLst xmlns:a="http://schemas.openxmlformats.org/drawingml/2006/main">
              <a:ext uri="{FF2B5EF4-FFF2-40B4-BE49-F238E27FC236}">
                <a16:creationId xmlns:a16="http://schemas.microsoft.com/office/drawing/2014/main" id="{D5C1FB59-8BFF-4602-A1C5-4A07ECC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Professional reports">
            <a:extLst xmlns:a="http://schemas.openxmlformats.org/drawingml/2006/main">
              <a:ext uri="{FF2B5EF4-FFF2-40B4-BE49-F238E27FC236}">
                <a16:creationId xmlns:a16="http://schemas.microsoft.com/office/drawing/2014/main" id="{2DF7B409-A3F7-405C-9E66-E51E766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PROFESSIONAL REPORTS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756CF833-A221-4FDF-B0B0-A7A9B81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Turn farm records into decision-ready reports.</a:t>
            </a:r>
          </a:p>
        </p:txBody>
      </p:sp>
      <p:sp>
        <p:nvSpPr>
          <p:cNvPr id="4" name="bullets-10">
            <a:extLst xmlns:a="http://schemas.openxmlformats.org/drawingml/2006/main">
              <a:ext uri="{FF2B5EF4-FFF2-40B4-BE49-F238E27FC236}">
                <a16:creationId xmlns:a16="http://schemas.microsoft.com/office/drawing/2014/main" id="{B65165B0-7BCC-483E-800D-C202211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Generate cash-flow, COGS and profit-and-loss reports.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Create assumption-based financial projections.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Produce shrimp sampling and production reports.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Export professional PDFs for approved stakeholders.</a:t>
            </a:r>
          </a:p>
        </p:txBody>
      </p:sp>
      <p:sp>
        <p:nvSpPr>
          <p:cNvPr id="5" name="benefit-accent-Clear reporting ma">
            <a:extLst xmlns:a="http://schemas.openxmlformats.org/drawingml/2006/main">
              <a:ext uri="{FF2B5EF4-FFF2-40B4-BE49-F238E27FC236}">
                <a16:creationId xmlns:a16="http://schemas.microsoft.com/office/drawing/2014/main" id="{E6EC1D64-9DF1-4F05-88F7-44084CA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Clear reporting ma">
            <a:extLst xmlns:a="http://schemas.openxmlformats.org/drawingml/2006/main">
              <a:ext uri="{FF2B5EF4-FFF2-40B4-BE49-F238E27FC236}">
                <a16:creationId xmlns:a16="http://schemas.microsoft.com/office/drawing/2014/main" id="{8A328877-4CFB-4851-BBBA-7AA12C2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Clear reporting makes performance easier to review and share.</a:t>
            </a:r>
          </a:p>
        </p:txBody>
      </p:sp>
      <p:sp>
        <p:nvSpPr>
          <p:cNvPr id="7" name="media-placeholder-Add a report preview or generation video">
            <a:extLst xmlns:a="http://schemas.openxmlformats.org/drawingml/2006/main">
              <a:ext uri="{FF2B5EF4-FFF2-40B4-BE49-F238E27FC236}">
                <a16:creationId xmlns:a16="http://schemas.microsoft.com/office/drawing/2014/main" id="{C1D9926E-7E29-4FA4-8EC3-8AD22D30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a report preview or generation video">
            <a:extLst xmlns:a="http://schemas.openxmlformats.org/drawingml/2006/main">
              <a:ext uri="{FF2B5EF4-FFF2-40B4-BE49-F238E27FC236}">
                <a16:creationId xmlns:a16="http://schemas.microsoft.com/office/drawing/2014/main" id="{0C49D499-21E9-478F-A755-61FFEF2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report preview or generation video">
            <a:extLst xmlns:a="http://schemas.openxmlformats.org/drawingml/2006/main">
              <a:ext uri="{FF2B5EF4-FFF2-40B4-BE49-F238E27FC236}">
                <a16:creationId xmlns:a16="http://schemas.microsoft.com/office/drawing/2014/main" id="{2A184CEB-EA15-4EC3-9AE3-94606A95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report preview or generation video">
            <a:extLst xmlns:a="http://schemas.openxmlformats.org/drawingml/2006/main">
              <a:ext uri="{FF2B5EF4-FFF2-40B4-BE49-F238E27FC236}">
                <a16:creationId xmlns:a16="http://schemas.microsoft.com/office/drawing/2014/main" id="{A68A8DED-92FE-4B8A-9167-6529195B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report preview or generation video</a:t>
            </a:r>
          </a:p>
        </p:txBody>
      </p:sp>
      <p:sp>
        <p:nvSpPr>
          <p:cNvPr id="11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14972854-9A1E-4D78-A0F0-94E801D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E77D7DA1-6203-4208-B883-C7641FC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CEB7355-5B26-4ABA-A883-5BD1E5D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701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Asset management">
            <a:extLst xmlns:a="http://schemas.openxmlformats.org/drawingml/2006/main">
              <a:ext uri="{FF2B5EF4-FFF2-40B4-BE49-F238E27FC236}">
                <a16:creationId xmlns:a16="http://schemas.microsoft.com/office/drawing/2014/main" id="{83C69A23-408A-49B8-8BA9-6ECC254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Asset management">
            <a:extLst xmlns:a="http://schemas.openxmlformats.org/drawingml/2006/main">
              <a:ext uri="{FF2B5EF4-FFF2-40B4-BE49-F238E27FC236}">
                <a16:creationId xmlns:a16="http://schemas.microsoft.com/office/drawing/2014/main" id="{ABE59512-AFB8-43EF-A5AE-2983FED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ASSET MANAGEMENT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952B86B0-DBBD-4127-A93F-67CAB56D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Know where equipment is, who used it and what needs attention.</a:t>
            </a:r>
          </a:p>
        </p:txBody>
      </p:sp>
      <p:sp>
        <p:nvSpPr>
          <p:cNvPr id="4" name="bullets-11">
            <a:extLst xmlns:a="http://schemas.openxmlformats.org/drawingml/2006/main">
              <a:ext uri="{FF2B5EF4-FFF2-40B4-BE49-F238E27FC236}">
                <a16:creationId xmlns:a16="http://schemas.microsoft.com/office/drawing/2014/main" id="{01A8030B-BFA4-4595-A240-A2A1634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Assign QR codes to farm assets.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Track maintenance and usage history.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Record transfers, returns and responsible team members.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Add photos for clearer identification.</a:t>
            </a:r>
          </a:p>
        </p:txBody>
      </p:sp>
      <p:sp>
        <p:nvSpPr>
          <p:cNvPr id="5" name="benefit-accent-A traceable asset ">
            <a:extLst xmlns:a="http://schemas.openxmlformats.org/drawingml/2006/main">
              <a:ext uri="{FF2B5EF4-FFF2-40B4-BE49-F238E27FC236}">
                <a16:creationId xmlns:a16="http://schemas.microsoft.com/office/drawing/2014/main" id="{B9B77937-978B-4207-B661-ABF52A2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A traceable asset ">
            <a:extLst xmlns:a="http://schemas.openxmlformats.org/drawingml/2006/main">
              <a:ext uri="{FF2B5EF4-FFF2-40B4-BE49-F238E27FC236}">
                <a16:creationId xmlns:a16="http://schemas.microsoft.com/office/drawing/2014/main" id="{7162DBB2-A81E-4B6B-BCC3-8B8E6B4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 traceable asset history supports maintenance and accountability.</a:t>
            </a:r>
          </a:p>
        </p:txBody>
      </p:sp>
      <p:sp>
        <p:nvSpPr>
          <p:cNvPr id="7" name="media-placeholder-Add an asset QR-scan video">
            <a:extLst xmlns:a="http://schemas.openxmlformats.org/drawingml/2006/main">
              <a:ext uri="{FF2B5EF4-FFF2-40B4-BE49-F238E27FC236}">
                <a16:creationId xmlns:a16="http://schemas.microsoft.com/office/drawing/2014/main" id="{8205A0BB-9A98-407B-96DA-5B860232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142E46"/>
          </a:solidFill>
          <a:ln xmlns:a="http://schemas.openxmlformats.org/drawingml/2006/main" w="19050">
            <a:solidFill>
              <a:srgbClr val="507A98"/>
            </a:solidFill>
            <a:prstDash val="dash"/>
          </a:ln>
        </p:spPr>
      </p:sp>
      <p:sp>
        <p:nvSpPr>
          <p:cNvPr id="8" name="media-plus-Add an asset QR-scan video">
            <a:extLst xmlns:a="http://schemas.openxmlformats.org/drawingml/2006/main">
              <a:ext uri="{FF2B5EF4-FFF2-40B4-BE49-F238E27FC236}">
                <a16:creationId xmlns:a16="http://schemas.microsoft.com/office/drawing/2014/main" id="{D9B592D3-9C1F-43E5-A498-EDF55DA6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n asset QR-scan video">
            <a:extLst xmlns:a="http://schemas.openxmlformats.org/drawingml/2006/main">
              <a:ext uri="{FF2B5EF4-FFF2-40B4-BE49-F238E27FC236}">
                <a16:creationId xmlns:a16="http://schemas.microsoft.com/office/drawing/2014/main" id="{285A45D6-AFC3-404D-BFC8-3A5BDB3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n asset QR-scan video">
            <a:extLst xmlns:a="http://schemas.openxmlformats.org/drawingml/2006/main">
              <a:ext uri="{FF2B5EF4-FFF2-40B4-BE49-F238E27FC236}">
                <a16:creationId xmlns:a16="http://schemas.microsoft.com/office/drawing/2014/main" id="{D270FA22-8EEF-43F6-AF16-A1DBE9F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Add an asset QR-scan video</a:t>
            </a:r>
          </a:p>
        </p:txBody>
      </p:sp>
      <p:sp>
        <p:nvSpPr>
          <p:cNvPr id="11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4721430C-799E-4F51-8DA7-6CA11B5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36B"/>
            </a:solidFill>
            <a:prstDash val="solid"/>
          </a:ln>
        </p:spPr>
      </p:sp>
      <p:sp>
        <p:nvSpPr>
          <p:cNvPr id="12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089B2D3E-0CE5-4313-9DCB-205AF3A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C68487AD-F55A-43CB-A038-D0F3535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3996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Roles &amp; accountability">
            <a:extLst xmlns:a="http://schemas.openxmlformats.org/drawingml/2006/main">
              <a:ext uri="{FF2B5EF4-FFF2-40B4-BE49-F238E27FC236}">
                <a16:creationId xmlns:a16="http://schemas.microsoft.com/office/drawing/2014/main" id="{13AE6371-FC0E-4DF6-9524-BC390C3C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Roles &amp; accountability">
            <a:extLst xmlns:a="http://schemas.openxmlformats.org/drawingml/2006/main">
              <a:ext uri="{FF2B5EF4-FFF2-40B4-BE49-F238E27FC236}">
                <a16:creationId xmlns:a16="http://schemas.microsoft.com/office/drawing/2014/main" id="{25282D7C-FB28-4213-86EE-1AD843E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ROLES &amp; ACCOUNTABILITY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8EC4570-6A42-4BC1-9A15-415F8FCA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Give every team member the right access.</a:t>
            </a:r>
          </a:p>
        </p:txBody>
      </p:sp>
      <p:sp>
        <p:nvSpPr>
          <p:cNvPr id="4" name="bullets-12">
            <a:extLst xmlns:a="http://schemas.openxmlformats.org/drawingml/2006/main">
              <a:ext uri="{FF2B5EF4-FFF2-40B4-BE49-F238E27FC236}">
                <a16:creationId xmlns:a16="http://schemas.microsoft.com/office/drawing/2014/main" id="{BD955432-0254-4B0A-9302-FEE044D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Owners retain full oversight.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Managers review operations and reports.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Technicians focus on daily pond activities.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Permissions protect sensitive company and finance data.</a:t>
            </a:r>
          </a:p>
        </p:txBody>
      </p:sp>
      <p:sp>
        <p:nvSpPr>
          <p:cNvPr id="5" name="benefit-accent-Clear access bound">
            <a:extLst xmlns:a="http://schemas.openxmlformats.org/drawingml/2006/main">
              <a:ext uri="{FF2B5EF4-FFF2-40B4-BE49-F238E27FC236}">
                <a16:creationId xmlns:a16="http://schemas.microsoft.com/office/drawing/2014/main" id="{A78DABDE-0038-4478-9EAF-120A424C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Clear access bound">
            <a:extLst xmlns:a="http://schemas.openxmlformats.org/drawingml/2006/main">
              <a:ext uri="{FF2B5EF4-FFF2-40B4-BE49-F238E27FC236}">
                <a16:creationId xmlns:a16="http://schemas.microsoft.com/office/drawing/2014/main" id="{88345332-FBA7-450B-B1AD-3FCADD67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Clear access boundaries strengthen accountability without slowing the team.</a:t>
            </a:r>
          </a:p>
        </p:txBody>
      </p:sp>
      <p:sp>
        <p:nvSpPr>
          <p:cNvPr id="7" name="media-placeholder-Add the team or role-management screenshot">
            <a:extLst xmlns:a="http://schemas.openxmlformats.org/drawingml/2006/main">
              <a:ext uri="{FF2B5EF4-FFF2-40B4-BE49-F238E27FC236}">
                <a16:creationId xmlns:a16="http://schemas.microsoft.com/office/drawing/2014/main" id="{BFC9D928-6BA5-4A32-ABF4-A61D5968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the team or role-management screenshot">
            <a:extLst xmlns:a="http://schemas.openxmlformats.org/drawingml/2006/main">
              <a:ext uri="{FF2B5EF4-FFF2-40B4-BE49-F238E27FC236}">
                <a16:creationId xmlns:a16="http://schemas.microsoft.com/office/drawing/2014/main" id="{01A551CA-B16C-4A61-969C-F21B015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team or role-management screenshot">
            <a:extLst xmlns:a="http://schemas.openxmlformats.org/drawingml/2006/main">
              <a:ext uri="{FF2B5EF4-FFF2-40B4-BE49-F238E27FC236}">
                <a16:creationId xmlns:a16="http://schemas.microsoft.com/office/drawing/2014/main" id="{E199118A-9768-4B61-B49A-E8095C6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team or role-management screenshot">
            <a:extLst xmlns:a="http://schemas.openxmlformats.org/drawingml/2006/main">
              <a:ext uri="{FF2B5EF4-FFF2-40B4-BE49-F238E27FC236}">
                <a16:creationId xmlns:a16="http://schemas.microsoft.com/office/drawing/2014/main" id="{3DC4ECCD-6965-447F-9D78-BA0A5875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the team or role-management screenshot</a:t>
            </a:r>
          </a:p>
        </p:txBody>
      </p:sp>
      <p:sp>
        <p:nvSpPr>
          <p:cNvPr id="11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3DF14DF2-7FDA-4E19-8264-E7D576A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C238893E-A16A-4F65-8458-81155BD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03832908-18AA-4BEF-8278-7F9718F4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029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Marketplace">
            <a:extLst xmlns:a="http://schemas.openxmlformats.org/drawingml/2006/main">
              <a:ext uri="{FF2B5EF4-FFF2-40B4-BE49-F238E27FC236}">
                <a16:creationId xmlns:a16="http://schemas.microsoft.com/office/drawing/2014/main" id="{B5C7A771-EEB0-4B48-9568-4A74164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Marketplace">
            <a:extLst xmlns:a="http://schemas.openxmlformats.org/drawingml/2006/main">
              <a:ext uri="{FF2B5EF4-FFF2-40B4-BE49-F238E27FC236}">
                <a16:creationId xmlns:a16="http://schemas.microsoft.com/office/drawing/2014/main" id="{6F11B17E-88C0-4424-BC05-A2F98822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MARKETPLACE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E41663B9-04F5-4738-89CA-D1BE00F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Strengthen connections with buyers and suppliers.</a:t>
            </a:r>
          </a:p>
        </p:txBody>
      </p:sp>
      <p:sp>
        <p:nvSpPr>
          <p:cNvPr id="4" name="bullets-13">
            <a:extLst xmlns:a="http://schemas.openxmlformats.org/drawingml/2006/main">
              <a:ext uri="{FF2B5EF4-FFF2-40B4-BE49-F238E27FC236}">
                <a16:creationId xmlns:a16="http://schemas.microsoft.com/office/drawing/2014/main" id="{326D45F3-9C25-43A4-8BA8-1D383174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List products for sale.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Browse supplies and equipment.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Connect with verified buyers.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Share approved information while protecting private company data.</a:t>
            </a:r>
          </a:p>
        </p:txBody>
      </p:sp>
      <p:sp>
        <p:nvSpPr>
          <p:cNvPr id="5" name="benefit-accent-Commercial opportu">
            <a:extLst xmlns:a="http://schemas.openxmlformats.org/drawingml/2006/main">
              <a:ext uri="{FF2B5EF4-FFF2-40B4-BE49-F238E27FC236}">
                <a16:creationId xmlns:a16="http://schemas.microsoft.com/office/drawing/2014/main" id="{73BC1DE2-800F-4F0A-AEC8-44C80AE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Commercial opportu">
            <a:extLst xmlns:a="http://schemas.openxmlformats.org/drawingml/2006/main">
              <a:ext uri="{FF2B5EF4-FFF2-40B4-BE49-F238E27FC236}">
                <a16:creationId xmlns:a16="http://schemas.microsoft.com/office/drawing/2014/main" id="{81FB3975-FCE8-4DFF-9F16-3CC8F7FF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Commercial opportunities sit closer to reliable production information.</a:t>
            </a:r>
          </a:p>
        </p:txBody>
      </p:sp>
      <p:sp>
        <p:nvSpPr>
          <p:cNvPr id="7" name="media-placeholder-Add the marketplace workflo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A8BE34F8-9C55-4873-8082-697EEAF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the marketplace workflo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DAD94271-19F4-4C37-9FB5-B35BB87B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marketplace workflo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5FA40705-780F-4C6D-898E-F1887A28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marketplace workflow screenshot or video">
            <a:extLst xmlns:a="http://schemas.openxmlformats.org/drawingml/2006/main">
              <a:ext uri="{FF2B5EF4-FFF2-40B4-BE49-F238E27FC236}">
                <a16:creationId xmlns:a16="http://schemas.microsoft.com/office/drawing/2014/main" id="{1F003AEE-EE5E-484D-94EB-9BFACAE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the marketplace workflow screenshot or video</a:t>
            </a:r>
          </a:p>
        </p:txBody>
      </p:sp>
      <p:sp>
        <p:nvSpPr>
          <p:cNvPr id="11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D791C344-3699-4634-AEA3-97090968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B1D02F2D-5CF6-4E7D-97CD-302564D1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7E0D780C-0367-4BC1-BFC1-C95230E9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1820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Built for farm teams">
            <a:extLst xmlns:a="http://schemas.openxmlformats.org/drawingml/2006/main">
              <a:ext uri="{FF2B5EF4-FFF2-40B4-BE49-F238E27FC236}">
                <a16:creationId xmlns:a16="http://schemas.microsoft.com/office/drawing/2014/main" id="{D0E4C1B5-A5EA-466D-9EBC-344111A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Built for farm teams">
            <a:extLst xmlns:a="http://schemas.openxmlformats.org/drawingml/2006/main">
              <a:ext uri="{FF2B5EF4-FFF2-40B4-BE49-F238E27FC236}">
                <a16:creationId xmlns:a16="http://schemas.microsoft.com/office/drawing/2014/main" id="{65555731-F35B-4731-AD20-3498C640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BUILT FOR FARM TEAMS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182BD268-B217-4BBA-8C2B-A880AA5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One system across devices, roles and languages.</a:t>
            </a:r>
          </a:p>
        </p:txBody>
      </p:sp>
      <p:sp>
        <p:nvSpPr>
          <p:cNvPr id="4" name="bullets-14">
            <a:extLst xmlns:a="http://schemas.openxmlformats.org/drawingml/2006/main">
              <a:ext uri="{FF2B5EF4-FFF2-40B4-BE49-F238E27FC236}">
                <a16:creationId xmlns:a16="http://schemas.microsoft.com/office/drawing/2014/main" id="{061F7169-CBAA-415C-85C6-2D15CE4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Mobile and web access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Offline-capable mobile workflows with synchronisation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Multi-language support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31546B"/>
                </a:solidFill>
                <a:latin typeface="Plus Jakarta Sans"/>
                <a:ea typeface="Plus Jakarta Sans"/>
                <a:cs typeface="Plus Jakarta Sans"/>
              </a:rPr>
              <a:t>•  Shared company data across authorised users</a:t>
            </a:r>
          </a:p>
        </p:txBody>
      </p:sp>
      <p:sp>
        <p:nvSpPr>
          <p:cNvPr id="5" name="benefit-accent-The whole team wor">
            <a:extLst xmlns:a="http://schemas.openxmlformats.org/drawingml/2006/main">
              <a:ext uri="{FF2B5EF4-FFF2-40B4-BE49-F238E27FC236}">
                <a16:creationId xmlns:a16="http://schemas.microsoft.com/office/drawing/2014/main" id="{8037D6E7-C68F-4E01-AC25-2E8D1A6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The whole team wor">
            <a:extLst xmlns:a="http://schemas.openxmlformats.org/drawingml/2006/main">
              <a:ext uri="{FF2B5EF4-FFF2-40B4-BE49-F238E27FC236}">
                <a16:creationId xmlns:a16="http://schemas.microsoft.com/office/drawing/2014/main" id="{79096B6B-FCF8-4B1C-BDB7-4F13E2F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The whole team works from the same operating picture.</a:t>
            </a:r>
          </a:p>
        </p:txBody>
      </p:sp>
      <p:sp>
        <p:nvSpPr>
          <p:cNvPr id="7" name="media-placeholder-Add a mobile-and-web montage or language-switching video">
            <a:extLst xmlns:a="http://schemas.openxmlformats.org/drawingml/2006/main">
              <a:ext uri="{FF2B5EF4-FFF2-40B4-BE49-F238E27FC236}">
                <a16:creationId xmlns:a16="http://schemas.microsoft.com/office/drawing/2014/main" id="{E65B69B9-3305-4AE4-AAEA-A433E01F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9CBFD4"/>
            </a:solidFill>
            <a:prstDash val="dash"/>
          </a:ln>
        </p:spPr>
      </p:sp>
      <p:sp>
        <p:nvSpPr>
          <p:cNvPr id="8" name="media-plus-Add a mobile-and-web montage or language-switching video">
            <a:extLst xmlns:a="http://schemas.openxmlformats.org/drawingml/2006/main">
              <a:ext uri="{FF2B5EF4-FFF2-40B4-BE49-F238E27FC236}">
                <a16:creationId xmlns:a16="http://schemas.microsoft.com/office/drawing/2014/main" id="{CEC6165D-8CC7-431A-BAEF-A912B2C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E6FA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a mobile-and-web montage or language-switching video">
            <a:extLst xmlns:a="http://schemas.openxmlformats.org/drawingml/2006/main">
              <a:ext uri="{FF2B5EF4-FFF2-40B4-BE49-F238E27FC236}">
                <a16:creationId xmlns:a16="http://schemas.microsoft.com/office/drawing/2014/main" id="{AD27F36B-516C-4C39-A8E4-37B6391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0D2137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a mobile-and-web montage or language-switching video">
            <a:extLst xmlns:a="http://schemas.openxmlformats.org/drawingml/2006/main">
              <a:ext uri="{FF2B5EF4-FFF2-40B4-BE49-F238E27FC236}">
                <a16:creationId xmlns:a16="http://schemas.microsoft.com/office/drawing/2014/main" id="{FC0A721C-EF19-429B-847B-3E48C17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Add a mobile-and-web montage or language-switching video</a:t>
            </a:r>
          </a:p>
        </p:txBody>
      </p:sp>
      <p:sp>
        <p:nvSpPr>
          <p:cNvPr id="11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07490C24-A0AC-4956-BF0D-83E580DE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2"/>
            </a:solidFill>
            <a:prstDash val="solid"/>
          </a:ln>
        </p:spPr>
      </p:sp>
      <p:sp>
        <p:nvSpPr>
          <p:cNvPr id="12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29A50FA5-F9A4-4B43-BCBB-96BEC5D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6DB38908-1505-417A-AEFF-4307F95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6B8AA0"/>
                </a:solidFill>
                <a:latin typeface="Plus Jakarta Sans"/>
                <a:ea typeface="Plus Jakarta Sans"/>
                <a:cs typeface="Plus Jakarta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0460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ule-Proposed partnership">
            <a:extLst xmlns:a="http://schemas.openxmlformats.org/drawingml/2006/main">
              <a:ext uri="{FF2B5EF4-FFF2-40B4-BE49-F238E27FC236}">
                <a16:creationId xmlns:a16="http://schemas.microsoft.com/office/drawing/2014/main" id="{2BC4FDAD-BC8D-4817-A9A8-8757A06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2" name="eyebrow-Proposed partnership">
            <a:extLst xmlns:a="http://schemas.openxmlformats.org/drawingml/2006/main">
              <a:ext uri="{FF2B5EF4-FFF2-40B4-BE49-F238E27FC236}">
                <a16:creationId xmlns:a16="http://schemas.microsoft.com/office/drawing/2014/main" id="{8B699452-7D33-4530-9F98-487E0C0A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PROPOSED PARTNERSHIP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B5E5EB06-5EFC-47F7-8808-9452D4D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Start with a focused pilot and scale with evidence.</a:t>
            </a:r>
          </a:p>
        </p:txBody>
      </p:sp>
      <p:sp>
        <p:nvSpPr>
          <p:cNvPr id="4" name="bullets-15">
            <a:extLst xmlns:a="http://schemas.openxmlformats.org/drawingml/2006/main">
              <a:ext uri="{FF2B5EF4-FFF2-40B4-BE49-F238E27FC236}">
                <a16:creationId xmlns:a16="http://schemas.microsoft.com/office/drawing/2014/main" id="{1BDCA730-C5FB-4373-A6D2-BBA3D66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Configure the company, selected ponds and team roles.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Train management and operational users.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Use Shrimply during daily farm operations.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Review adoption, data quality and operational fit.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>
                <a:solidFill>
                  <a:srgbClr val="D7E6F0"/>
                </a:solidFill>
                <a:latin typeface="Plus Jakarta Sans"/>
                <a:ea typeface="Plus Jakarta Sans"/>
                <a:cs typeface="Plus Jakarta Sans"/>
              </a:rPr>
              <a:t>•  Agree on broader implementation based on results.</a:t>
            </a:r>
          </a:p>
        </p:txBody>
      </p:sp>
      <p:sp>
        <p:nvSpPr>
          <p:cNvPr id="5" name="benefit-accent-Next: confirm the ">
            <a:extLst xmlns:a="http://schemas.openxmlformats.org/drawingml/2006/main">
              <a:ext uri="{FF2B5EF4-FFF2-40B4-BE49-F238E27FC236}">
                <a16:creationId xmlns:a16="http://schemas.microsoft.com/office/drawing/2014/main" id="{309B4427-FDBA-449C-A1E2-51FC804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8E8"/>
          </a:solidFill>
          <a:ln xmlns:a="http://schemas.openxmlformats.org/drawingml/2006/main" w="0">
            <a:solidFill>
              <a:srgbClr val="1AB8E8"/>
            </a:solidFill>
            <a:prstDash val="solid"/>
          </a:ln>
        </p:spPr>
      </p:sp>
      <p:sp>
        <p:nvSpPr>
          <p:cNvPr id="6" name="benefit-Next: confirm the ">
            <a:extLst xmlns:a="http://schemas.openxmlformats.org/drawingml/2006/main">
              <a:ext uri="{FF2B5EF4-FFF2-40B4-BE49-F238E27FC236}">
                <a16:creationId xmlns:a16="http://schemas.microsoft.com/office/drawing/2014/main" id="{F22D60E0-5ADE-4283-B807-94753AE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Next: confirm the pilot location, team lead, success measures and launch date.</a:t>
            </a:r>
          </a:p>
        </p:txBody>
      </p:sp>
      <p:sp>
        <p:nvSpPr>
          <p:cNvPr id="7" name="media-placeholder-Add the client logo, pilot scope or implementation timeline">
            <a:extLst xmlns:a="http://schemas.openxmlformats.org/drawingml/2006/main">
              <a:ext uri="{FF2B5EF4-FFF2-40B4-BE49-F238E27FC236}">
                <a16:creationId xmlns:a16="http://schemas.microsoft.com/office/drawing/2014/main" id="{D30A85B8-536D-43A6-9ABB-6FC43305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8700"/>
            <a:ext cx="5010150" cy="48006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142E46"/>
          </a:solidFill>
          <a:ln xmlns:a="http://schemas.openxmlformats.org/drawingml/2006/main" w="19050">
            <a:solidFill>
              <a:srgbClr val="507A98"/>
            </a:solidFill>
            <a:prstDash val="dash"/>
          </a:ln>
        </p:spPr>
      </p:sp>
      <p:sp>
        <p:nvSpPr>
          <p:cNvPr id="8" name="media-plus-Add the client logo, pilot scope or implementation timeline">
            <a:extLst xmlns:a="http://schemas.openxmlformats.org/drawingml/2006/main">
              <a:ext uri="{FF2B5EF4-FFF2-40B4-BE49-F238E27FC236}">
                <a16:creationId xmlns:a16="http://schemas.microsoft.com/office/drawing/2014/main" id="{2CB37EA5-B218-4679-BC51-0CDFCAA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750">
                <a:solidFill>
                  <a:srgbClr val="1AB8E8"/>
                </a:solidFill>
                <a:latin typeface="Plus Jakarta Sans"/>
                <a:ea typeface="Plus Jakarta Sans"/>
                <a:cs typeface="Plus Jakarta Sans"/>
              </a:rPr>
              <a:t>+</a:t>
            </a:r>
          </a:p>
        </p:txBody>
      </p:sp>
      <p:sp>
        <p:nvSpPr>
          <p:cNvPr id="9" name="media-label-Add the client logo, pilot scope or implementation timeline">
            <a:extLst xmlns:a="http://schemas.openxmlformats.org/drawingml/2006/main">
              <a:ext uri="{FF2B5EF4-FFF2-40B4-BE49-F238E27FC236}">
                <a16:creationId xmlns:a16="http://schemas.microsoft.com/office/drawing/2014/main" id="{E35F14D2-31FF-4FB0-8882-115C5000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ADD SCREENSHOT OR VIDEO</a:t>
            </a:r>
          </a:p>
        </p:txBody>
      </p:sp>
      <p:sp>
        <p:nvSpPr>
          <p:cNvPr id="10" name="media-hint-Add the client logo, pilot scope or implementation timeline">
            <a:extLst xmlns:a="http://schemas.openxmlformats.org/drawingml/2006/main">
              <a:ext uri="{FF2B5EF4-FFF2-40B4-BE49-F238E27FC236}">
                <a16:creationId xmlns:a16="http://schemas.microsoft.com/office/drawing/2014/main" id="{F26E4EF5-0818-455A-B289-931B1E6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Add the client logo, pilot scope or implementation timeline</a:t>
            </a:r>
          </a:p>
        </p:txBody>
      </p:sp>
      <p:sp>
        <p:nvSpPr>
          <p:cNvPr id="11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3D67ADDF-4508-4D50-B58D-96009B9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36B"/>
            </a:solidFill>
            <a:prstDash val="solid"/>
          </a:ln>
        </p:spPr>
      </p:sp>
      <p:sp>
        <p:nvSpPr>
          <p:cNvPr id="12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825DCDE8-B4AD-4CE6-8A50-00FCFD57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SHRIMPLY  ·  AQUACULTURE INTELLIGENCE</a:t>
            </a:r>
          </a:p>
        </p:txBody>
      </p:sp>
      <p:sp>
        <p:nvSpPr>
          <p:cNvPr id="13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9ABF962A-0DBD-4B80-B216-AED9328A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0C8DC"/>
                </a:solidFill>
                <a:latin typeface="Plus Jakarta Sans"/>
                <a:ea typeface="Plus Jakarta Sans"/>
                <a:cs typeface="Plus Jakarta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1970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2026-07-21T02:31:33.5900000Z</dcterms:created>
  <dcterms:modified xsi:type="dcterms:W3CDTF">2026-07-21T02:31:33.5910000Z</dcterms:modified>
</coreProperties>
</file>